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212544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2808411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835515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253528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2781102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68782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2669883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41865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651807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2976688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165048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6BE89-2756-4AAE-915F-65091149723E}" type="datetimeFigureOut">
              <a:rPr lang="hr-BA" smtClean="0"/>
              <a:t>29. 8. 2025.</a:t>
            </a:fld>
            <a:endParaRPr lang="hr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B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A8DF4-B803-4907-A732-3F9C0D1C8930}" type="slidenum">
              <a:rPr lang="hr-BA" smtClean="0"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21741495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4F2C0C3-44FD-483D-89D3-BFCC85E1F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Detekcija svjetlosnog onečišćenja u gradovima</a:t>
            </a:r>
            <a:endParaRPr lang="hr-BA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F29973C3-4800-4E03-83B0-8E3D1ED2F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Jozo Petrović, Antonela Galić, Roberto Mijatović</a:t>
            </a:r>
            <a:endParaRPr lang="hr-BA" dirty="0"/>
          </a:p>
        </p:txBody>
      </p:sp>
    </p:spTree>
    <p:extLst>
      <p:ext uri="{BB962C8B-B14F-4D97-AF65-F5344CB8AC3E}">
        <p14:creationId xmlns:p14="http://schemas.microsoft.com/office/powerpoint/2010/main" val="8067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7BAA14E-7AC0-4181-9AD9-32D01D26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Projekt - cilj</a:t>
            </a:r>
            <a:endParaRPr lang="hr-BA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F199FE6-5E6B-4C7E-B703-AD5170FF1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Razviti sustav za automatsku detekciju svjetlosnog onečišćenja</a:t>
            </a:r>
          </a:p>
          <a:p>
            <a:r>
              <a:rPr lang="hr-HR" dirty="0"/>
              <a:t>Korištenjem računalnog vida i dubokog učenja</a:t>
            </a:r>
          </a:p>
          <a:p>
            <a:r>
              <a:rPr lang="hr-HR" dirty="0"/>
              <a:t>Fokus na brzo, jednostavno i skalabilno rješenje</a:t>
            </a:r>
            <a:endParaRPr lang="hr-BA" dirty="0"/>
          </a:p>
        </p:txBody>
      </p:sp>
    </p:spTree>
    <p:extLst>
      <p:ext uri="{BB962C8B-B14F-4D97-AF65-F5344CB8AC3E}">
        <p14:creationId xmlns:p14="http://schemas.microsoft.com/office/powerpoint/2010/main" val="191693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82DCA40-96A8-4FA0-B051-1C0B2E5A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Korišteni podatci	</a:t>
            </a:r>
            <a:endParaRPr lang="hr-BA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51354CF-547F-4834-AE77-7D8B5D757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/>
              <a:t>Dataset</a:t>
            </a:r>
            <a:r>
              <a:rPr lang="hr-HR" dirty="0"/>
              <a:t> : </a:t>
            </a:r>
            <a:r>
              <a:rPr lang="hr-HR" dirty="0" err="1"/>
              <a:t>Country-Wise</a:t>
            </a:r>
            <a:r>
              <a:rPr lang="hr-HR" dirty="0"/>
              <a:t> </a:t>
            </a:r>
            <a:r>
              <a:rPr lang="hr-HR" dirty="0" err="1"/>
              <a:t>Nightlight</a:t>
            </a:r>
            <a:r>
              <a:rPr lang="hr-HR" dirty="0"/>
              <a:t> </a:t>
            </a:r>
            <a:r>
              <a:rPr lang="hr-HR" dirty="0" err="1"/>
              <a:t>Images</a:t>
            </a:r>
            <a:r>
              <a:rPr lang="hr-HR" dirty="0"/>
              <a:t> </a:t>
            </a:r>
            <a:r>
              <a:rPr lang="hr-HR" dirty="0" err="1"/>
              <a:t>Dataset</a:t>
            </a:r>
            <a:r>
              <a:rPr lang="hr-HR" dirty="0"/>
              <a:t> – satelitske snimke noćne svjetlosti u različitim regijama s fokusom na gradove, predgrađa i ruralna područja.</a:t>
            </a:r>
          </a:p>
          <a:p>
            <a:r>
              <a:rPr lang="hr-HR" dirty="0"/>
              <a:t>Za treniranje i evaluaciju korištene su označene slike u obliku RGB snimki i pripadajuće maske koje označavaju intenzitet svjetlosti zagađenja.</a:t>
            </a:r>
          </a:p>
          <a:p>
            <a:endParaRPr lang="hr-BA" dirty="0"/>
          </a:p>
        </p:txBody>
      </p:sp>
    </p:spTree>
    <p:extLst>
      <p:ext uri="{BB962C8B-B14F-4D97-AF65-F5344CB8AC3E}">
        <p14:creationId xmlns:p14="http://schemas.microsoft.com/office/powerpoint/2010/main" val="2778692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03B5176-CEA7-443C-8F91-363DC5C48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Tehnologije</a:t>
            </a:r>
            <a:endParaRPr lang="hr-BA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36DE049-6DC1-4403-9FA3-6B1164082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/>
              <a:t>Python</a:t>
            </a:r>
            <a:r>
              <a:rPr lang="hr-HR" dirty="0"/>
              <a:t> – za razvoj i analizu</a:t>
            </a:r>
          </a:p>
          <a:p>
            <a:r>
              <a:rPr lang="hr-HR" dirty="0"/>
              <a:t>YOLOv8 – napredna </a:t>
            </a:r>
            <a:r>
              <a:rPr lang="hr-HR" dirty="0" err="1"/>
              <a:t>deep</a:t>
            </a:r>
            <a:r>
              <a:rPr lang="hr-HR" dirty="0"/>
              <a:t> </a:t>
            </a:r>
            <a:r>
              <a:rPr lang="hr-HR" dirty="0" err="1"/>
              <a:t>learning</a:t>
            </a:r>
            <a:r>
              <a:rPr lang="hr-HR" dirty="0"/>
              <a:t> arhitektura za detekciju i segmentaciju objekata</a:t>
            </a:r>
          </a:p>
          <a:p>
            <a:r>
              <a:rPr lang="hr-HR" dirty="0" err="1"/>
              <a:t>OpenCV</a:t>
            </a:r>
            <a:r>
              <a:rPr lang="hr-HR" dirty="0"/>
              <a:t> – obrada i prikaz slika</a:t>
            </a:r>
          </a:p>
          <a:p>
            <a:r>
              <a:rPr lang="hr-HR" dirty="0" err="1"/>
              <a:t>Pandas</a:t>
            </a:r>
            <a:r>
              <a:rPr lang="hr-HR" dirty="0"/>
              <a:t> i </a:t>
            </a:r>
            <a:r>
              <a:rPr lang="hr-HR" dirty="0" err="1"/>
              <a:t>NumPy</a:t>
            </a:r>
            <a:r>
              <a:rPr lang="hr-HR" dirty="0"/>
              <a:t> – obrada podataka i evaluacija</a:t>
            </a:r>
          </a:p>
          <a:p>
            <a:r>
              <a:rPr lang="hr-HR" dirty="0" err="1"/>
              <a:t>Matplotlib</a:t>
            </a:r>
            <a:r>
              <a:rPr lang="hr-HR" dirty="0"/>
              <a:t> i </a:t>
            </a:r>
            <a:r>
              <a:rPr lang="hr-HR" dirty="0" err="1"/>
              <a:t>Seaborn</a:t>
            </a:r>
            <a:r>
              <a:rPr lang="hr-HR" dirty="0"/>
              <a:t> – vizualizacija rezultata</a:t>
            </a:r>
          </a:p>
          <a:p>
            <a:r>
              <a:rPr lang="hr-HR" dirty="0"/>
              <a:t>Google </a:t>
            </a:r>
            <a:r>
              <a:rPr lang="hr-HR" dirty="0" err="1"/>
              <a:t>Colab</a:t>
            </a:r>
            <a:r>
              <a:rPr lang="hr-HR" dirty="0"/>
              <a:t> – razvojno okruženje za rad</a:t>
            </a:r>
            <a:endParaRPr lang="hr-BA" dirty="0"/>
          </a:p>
        </p:txBody>
      </p:sp>
    </p:spTree>
    <p:extLst>
      <p:ext uri="{BB962C8B-B14F-4D97-AF65-F5344CB8AC3E}">
        <p14:creationId xmlns:p14="http://schemas.microsoft.com/office/powerpoint/2010/main" val="3269444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A009A7F-4433-43E1-A6E3-ED945823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Metodologija</a:t>
            </a:r>
            <a:endParaRPr lang="hr-BA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2B912B1-16E8-4513-A614-B837CC30A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Priprema podataka ( skaliranje, normalizacija, maske )</a:t>
            </a:r>
          </a:p>
          <a:p>
            <a:r>
              <a:rPr lang="hr-HR" dirty="0"/>
              <a:t>Treniranje modela ( YOLOv8 segmentacija )</a:t>
            </a:r>
          </a:p>
          <a:p>
            <a:r>
              <a:rPr lang="hr-HR" dirty="0"/>
              <a:t>Evaluacija ( </a:t>
            </a:r>
            <a:r>
              <a:rPr lang="hr-HR" dirty="0" err="1"/>
              <a:t>IoU</a:t>
            </a:r>
            <a:r>
              <a:rPr lang="hr-HR" dirty="0"/>
              <a:t>, preciznost, </a:t>
            </a:r>
            <a:r>
              <a:rPr lang="hr-HR" dirty="0" err="1"/>
              <a:t>recall</a:t>
            </a:r>
            <a:r>
              <a:rPr lang="hr-HR" dirty="0"/>
              <a:t>, F1 )</a:t>
            </a:r>
          </a:p>
          <a:p>
            <a:r>
              <a:rPr lang="hr-HR" dirty="0"/>
              <a:t>Testiranje i </a:t>
            </a:r>
            <a:r>
              <a:rPr lang="hr-HR" dirty="0" err="1"/>
              <a:t>inferencija</a:t>
            </a:r>
            <a:endParaRPr lang="hr-BA" dirty="0"/>
          </a:p>
        </p:txBody>
      </p:sp>
    </p:spTree>
    <p:extLst>
      <p:ext uri="{BB962C8B-B14F-4D97-AF65-F5344CB8AC3E}">
        <p14:creationId xmlns:p14="http://schemas.microsoft.com/office/powerpoint/2010/main" val="379022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45B950B-6ABE-42B8-8E37-BC3A5ECA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Rezultati</a:t>
            </a:r>
            <a:endParaRPr lang="hr-BA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C339D4E-83DD-43A6-B4AB-AC2574D59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BA" dirty="0"/>
              <a:t> 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11D03D5D-5554-497D-BD6C-7DB965121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616" y="1690688"/>
            <a:ext cx="5563082" cy="2034716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754D084A-ACC8-40AB-A88E-4995DF99ACA8}"/>
              </a:ext>
            </a:extLst>
          </p:cNvPr>
          <p:cNvSpPr txBox="1"/>
          <p:nvPr/>
        </p:nvSpPr>
        <p:spPr>
          <a:xfrm>
            <a:off x="838200" y="4200939"/>
            <a:ext cx="1013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Gradovi – model dobro hvata jaka izvorišta svjetlosti ( 0.79 )</a:t>
            </a:r>
          </a:p>
          <a:p>
            <a:r>
              <a:rPr lang="hr-HR" dirty="0"/>
              <a:t>Prijelazna područja – model teže razlikuje umjerenu svjetlost od šuma ( 0.64 )</a:t>
            </a:r>
          </a:p>
          <a:p>
            <a:r>
              <a:rPr lang="hr-HR" dirty="0"/>
              <a:t>Ruralna područja – model jako precizan jer je svjetlosnog izvora malo ( 0.91 )</a:t>
            </a:r>
          </a:p>
          <a:p>
            <a:r>
              <a:rPr lang="hr-HR" dirty="0"/>
              <a:t>Prosječno vrijeme detekcije ~120 </a:t>
            </a:r>
            <a:r>
              <a:rPr lang="hr-HR" dirty="0" err="1"/>
              <a:t>ms</a:t>
            </a:r>
            <a:r>
              <a:rPr lang="hr-HR" dirty="0"/>
              <a:t> po slici</a:t>
            </a:r>
            <a:endParaRPr lang="hr-BA" dirty="0"/>
          </a:p>
        </p:txBody>
      </p:sp>
    </p:spTree>
    <p:extLst>
      <p:ext uri="{BB962C8B-B14F-4D97-AF65-F5344CB8AC3E}">
        <p14:creationId xmlns:p14="http://schemas.microsoft.com/office/powerpoint/2010/main" val="36215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C06120D-2A9E-4AF0-9B8E-451E8CB9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Error</a:t>
            </a:r>
            <a:r>
              <a:rPr lang="hr-HR" dirty="0"/>
              <a:t> </a:t>
            </a:r>
            <a:r>
              <a:rPr lang="hr-HR" dirty="0" err="1"/>
              <a:t>Map</a:t>
            </a:r>
            <a:r>
              <a:rPr lang="hr-HR" dirty="0"/>
              <a:t> </a:t>
            </a:r>
            <a:endParaRPr lang="hr-BA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5BECC61-4787-4B7F-B136-80A1BEC94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Greška predikcije i stvarnih maski, tamnocrvene točke predstavljaju područja s većim odstupanjem, a svijetle s malom ili nikakvom greškom. Cilj prikaza je lakše uočavanje gdje model griješi prilikom obrade slike. </a:t>
            </a:r>
            <a:endParaRPr lang="hr-BA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AD98DD07-B706-4965-A195-F94E136D9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10126747" cy="317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1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BFCD52E-EF2D-4B71-B797-49B78D9B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Prediction</a:t>
            </a:r>
            <a:r>
              <a:rPr lang="hr-HR" dirty="0"/>
              <a:t> </a:t>
            </a:r>
            <a:r>
              <a:rPr lang="hr-HR" dirty="0" err="1"/>
              <a:t>Heatmap</a:t>
            </a:r>
            <a:endParaRPr lang="hr-BA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39071E9-E5B0-4FEC-99ED-ECB46BE87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Vizualizacija gdje model fokusira pažnju prilikom predikcije. Toplija područja označavaju veću aktivaciju modela, dok crvena manje važne regije. Pomažu u razumijevanju kako model „gleda” na ulazne podatke i koje dijelove koristi za donošenje odluka.</a:t>
            </a:r>
          </a:p>
          <a:p>
            <a:endParaRPr lang="hr-BA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8C446CC0-7298-48E6-8631-FF777CEF9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9564"/>
            <a:ext cx="9844235" cy="295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8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21D1A6C-1E53-4458-B1AD-4F62EFDBD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Overlay</a:t>
            </a:r>
            <a:r>
              <a:rPr lang="hr-HR" dirty="0"/>
              <a:t> </a:t>
            </a:r>
            <a:r>
              <a:rPr lang="hr-HR" dirty="0" err="1"/>
              <a:t>Mask</a:t>
            </a:r>
            <a:endParaRPr lang="hr-BA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993FE40-4016-41DD-8482-8BA66A978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Vizualizacija lokacije otkrivenih grešaka ili anomalija preklapanja na </a:t>
            </a:r>
            <a:r>
              <a:rPr lang="hr-HR" dirty="0" err="1"/>
              <a:t>orginalnu</a:t>
            </a:r>
            <a:r>
              <a:rPr lang="hr-HR" dirty="0"/>
              <a:t> sliku. Siva pozadina predstavlja područje bez greške, dok bijele točke označavaju lokacije gdje je model detektirao značajnu grešku. Prikazi omogućuju lakšu vizualizaciju provjera točnosti modela u odnosu na stvarne ili očekivane anomalije.</a:t>
            </a:r>
          </a:p>
          <a:p>
            <a:endParaRPr lang="hr-BA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BCC86C8D-A201-4781-AB3C-7A014E14C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34" y="3789411"/>
            <a:ext cx="9977743" cy="286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6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6B8F79D-974C-44FF-9452-614A65C8B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339"/>
            <a:ext cx="10515600" cy="5633624"/>
          </a:xfrm>
        </p:spPr>
        <p:txBody>
          <a:bodyPr/>
          <a:lstStyle/>
          <a:p>
            <a:r>
              <a:rPr lang="hr-HR" dirty="0"/>
              <a:t>Tijekom treniranja modela vidljivo je da se vrijednosti funkcije gubitka ( </a:t>
            </a:r>
            <a:r>
              <a:rPr lang="hr-HR" dirty="0" err="1"/>
              <a:t>loss</a:t>
            </a:r>
            <a:r>
              <a:rPr lang="hr-HR" dirty="0"/>
              <a:t> ) postupno smanjuju, što znači da model bolje uči prepoznati značajke svjetlosnog onečišćenja na slikama. Metrike </a:t>
            </a:r>
            <a:r>
              <a:rPr lang="hr-HR" dirty="0" err="1"/>
              <a:t>IoU</a:t>
            </a:r>
            <a:r>
              <a:rPr lang="hr-HR" dirty="0"/>
              <a:t> i </a:t>
            </a:r>
            <a:r>
              <a:rPr lang="hr-HR" dirty="0" err="1"/>
              <a:t>Dice</a:t>
            </a:r>
            <a:r>
              <a:rPr lang="hr-HR" dirty="0"/>
              <a:t> rastu, što prikazuje da model sve preciznije segmentira svjetlosna područja. Iako početne metrike nisu visoke, pozitivan trend kroz epohe ukazuje na uspješan proces treniranja i poboljšane performansi modela. Napredak sugerira da model uči korisne obrasce iz podataka i može se dodatno optimizirati s više epoha.</a:t>
            </a:r>
          </a:p>
          <a:p>
            <a:endParaRPr lang="hr-BA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92B8EA5-9210-4D99-AA8B-0BA374720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52" y="3777482"/>
            <a:ext cx="10903496" cy="213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68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E78080A-F2A1-489B-AC61-86D5A3608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3357"/>
            <a:ext cx="10515600" cy="2425147"/>
          </a:xfrm>
        </p:spPr>
        <p:txBody>
          <a:bodyPr/>
          <a:lstStyle/>
          <a:p>
            <a:pPr algn="ctr"/>
            <a:r>
              <a:rPr lang="hr-HR" dirty="0"/>
              <a:t>Hvala na pažnji.</a:t>
            </a:r>
            <a:endParaRPr lang="hr-BA" dirty="0"/>
          </a:p>
        </p:txBody>
      </p:sp>
    </p:spTree>
    <p:extLst>
      <p:ext uri="{BB962C8B-B14F-4D97-AF65-F5344CB8AC3E}">
        <p14:creationId xmlns:p14="http://schemas.microsoft.com/office/powerpoint/2010/main" val="994605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sustava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sustava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sustava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419</Words>
  <Application>Microsoft Office PowerPoint</Application>
  <PresentationFormat>Široki zaslon</PresentationFormat>
  <Paragraphs>35</Paragraphs>
  <Slides>11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Detekcija svjetlosnog onečišćenja u gradovima</vt:lpstr>
      <vt:lpstr>Projekt - cilj</vt:lpstr>
      <vt:lpstr>Korišteni podatci </vt:lpstr>
      <vt:lpstr>Tehnologije</vt:lpstr>
      <vt:lpstr>Metodologija</vt:lpstr>
      <vt:lpstr>Rezultati</vt:lpstr>
      <vt:lpstr>Error Map </vt:lpstr>
      <vt:lpstr>Prediction Heatmap</vt:lpstr>
      <vt:lpstr>Overlay Mask</vt:lpstr>
      <vt:lpstr>PowerPoint prezentacija</vt:lpstr>
      <vt:lpstr>Hvala na pažnji.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Detekcija svjetlosnog onečišćenja u gradovima</dc:title>
  <dc:creator>Ante</dc:creator>
  <cp:lastModifiedBy>Ante</cp:lastModifiedBy>
  <cp:revision>4</cp:revision>
  <dcterms:created xsi:type="dcterms:W3CDTF">2025-08-29T13:58:30Z</dcterms:created>
  <dcterms:modified xsi:type="dcterms:W3CDTF">2025-08-29T14:23:12Z</dcterms:modified>
</cp:coreProperties>
</file>